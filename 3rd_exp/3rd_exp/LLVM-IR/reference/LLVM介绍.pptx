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95" r:id="rId5"/>
    <p:sldId id="298" r:id="rId6"/>
    <p:sldId id="296" r:id="rId7"/>
    <p:sldId id="302" r:id="rId8"/>
    <p:sldId id="294" r:id="rId9"/>
    <p:sldId id="299" r:id="rId10"/>
    <p:sldId id="300" r:id="rId11"/>
    <p:sldId id="269" r:id="rId12"/>
  </p:sldIdLst>
  <p:sldSz cx="12192635" cy="6858000"/>
  <p:notesSz cx="7103745" cy="10234295"/>
  <p:custDataLst>
    <p:tags r:id="rId1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0FF2"/>
    <a:srgbClr val="1D41D5"/>
    <a:srgbClr val="D0B790"/>
    <a:srgbClr val="FAF8F3"/>
    <a:srgbClr val="7B221E"/>
    <a:srgbClr val="5B100D"/>
    <a:srgbClr val="65110E"/>
    <a:srgbClr val="AE0B2A"/>
    <a:srgbClr val="C8C3B6"/>
    <a:srgbClr val="F376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gs" Target="tags/tag1.xml"/><Relationship Id="rId16" Type="http://schemas.openxmlformats.org/officeDocument/2006/relationships/commentAuthors" Target="commentAuthors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282" y="1279287"/>
            <a:ext cx="6141182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150" y="1122363"/>
            <a:ext cx="91449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150" y="3602038"/>
            <a:ext cx="91449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932" y="1709738"/>
            <a:ext cx="1051663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932" y="4589463"/>
            <a:ext cx="1051663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83" y="1825625"/>
            <a:ext cx="518211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808" y="1825625"/>
            <a:ext cx="518211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871" y="365125"/>
            <a:ext cx="10516635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891" y="1778438"/>
            <a:ext cx="4874054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891" y="2665379"/>
            <a:ext cx="4874054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7554" y="1778438"/>
            <a:ext cx="4898058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7554" y="2665379"/>
            <a:ext cx="4898058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871" y="457200"/>
            <a:ext cx="416575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698" y="457201"/>
            <a:ext cx="6172808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871" y="2057400"/>
            <a:ext cx="416575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5759" y="365125"/>
            <a:ext cx="2629159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83" y="365125"/>
            <a:ext cx="7735062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283" y="365125"/>
            <a:ext cx="10516635" cy="58118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83" y="365125"/>
            <a:ext cx="1051663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83" y="1825625"/>
            <a:ext cx="1051663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83" y="6356350"/>
            <a:ext cx="2743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998" y="6356350"/>
            <a:ext cx="41152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1448" y="6356350"/>
            <a:ext cx="2743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" name="图片 9" descr="未标题-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70"/>
            <a:ext cx="12220575" cy="6857365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629150" y="2732405"/>
            <a:ext cx="2962275" cy="1021715"/>
          </a:xfrm>
        </p:spPr>
        <p:txBody>
          <a:bodyPr>
            <a:normAutofit/>
          </a:bodyPr>
          <a:lstStyle>
            <a:lvl1pPr>
              <a:defRPr b="1" u="none" strike="noStrike" kern="1200" cap="none" spc="0" normalizeH="0">
                <a:solidFill>
                  <a:schemeClr val="bg1"/>
                </a:solidFill>
                <a:uFillTx/>
                <a:latin typeface="Microsoft YaHei Bold" panose="020B0503020204020204" charset="-122"/>
                <a:ea typeface="Microsoft YaHei Bold" panose="020B0503020204020204" charset="-122"/>
              </a:defRPr>
            </a:lvl1pPr>
          </a:lstStyle>
          <a:p>
            <a:pPr algn="l"/>
            <a:r>
              <a:rPr lang="en-US" altLang="zh-CN" sz="4400" smtClean="0"/>
              <a:t>LLVM</a:t>
            </a:r>
            <a:r>
              <a:rPr lang="zh-CN" altLang="en-US" sz="4400" smtClean="0"/>
              <a:t>介绍</a:t>
            </a:r>
            <a:endParaRPr lang="zh-CN" altLang="en-US" sz="4400" smtClean="0"/>
          </a:p>
        </p:txBody>
      </p:sp>
      <p:pic>
        <p:nvPicPr>
          <p:cNvPr id="8" name="图片 7" descr="图层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900795" y="677545"/>
            <a:ext cx="2520000" cy="394634"/>
          </a:xfrm>
          <a:prstGeom prst="rect">
            <a:avLst/>
          </a:prstGeom>
        </p:spPr>
      </p:pic>
      <p:pic>
        <p:nvPicPr>
          <p:cNvPr id="14" name="图片 13" descr="资源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93310"/>
            <a:ext cx="12220575" cy="19653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0" y="259080"/>
            <a:ext cx="520065" cy="569595"/>
          </a:xfrm>
          <a:custGeom>
            <a:avLst/>
            <a:gdLst/>
            <a:ahLst/>
            <a:cxnLst/>
            <a:rect l="l" t="t" r="r" b="b"/>
            <a:pathLst>
              <a:path w="4956389" h="304748">
                <a:moveTo>
                  <a:pt x="0" y="0"/>
                </a:moveTo>
                <a:lnTo>
                  <a:pt x="4956389" y="0"/>
                </a:lnTo>
                <a:lnTo>
                  <a:pt x="4956389" y="304748"/>
                </a:lnTo>
                <a:lnTo>
                  <a:pt x="0" y="304748"/>
                </a:lnTo>
                <a:close/>
              </a:path>
            </a:pathLst>
          </a:custGeom>
          <a:solidFill>
            <a:srgbClr val="9D0101"/>
          </a:solidFill>
        </p:spPr>
      </p:sp>
      <p:sp>
        <p:nvSpPr>
          <p:cNvPr id="42" name="TextBox 42"/>
          <p:cNvSpPr txBox="1"/>
          <p:nvPr/>
        </p:nvSpPr>
        <p:spPr>
          <a:xfrm>
            <a:off x="668020" y="198755"/>
            <a:ext cx="2541905" cy="57785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4915"/>
              </a:lnSpc>
            </a:pPr>
            <a:r>
              <a:rPr lang="zh-CN" altLang="en-US" sz="2800" b="1" spc="217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zh-CN" altLang="en-US" sz="2800" b="1" spc="217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 descr="图层 yingwe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6348" y="405765"/>
            <a:ext cx="1836420" cy="37084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906145" y="1398270"/>
            <a:ext cx="9977755" cy="42945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2800"/>
              <a:t>背景</a:t>
            </a:r>
            <a:endParaRPr lang="zh-CN" altLang="en-US" sz="280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CN" sz="2800"/>
              <a:t>LLVM</a:t>
            </a:r>
            <a:r>
              <a:rPr lang="zh-CN" altLang="en-US" sz="2800"/>
              <a:t>设计</a:t>
            </a:r>
            <a:r>
              <a:rPr lang="zh-CN" altLang="en-US" sz="2800"/>
              <a:t>理念</a:t>
            </a:r>
            <a:endParaRPr lang="zh-CN" altLang="en-US" sz="280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CN" sz="2800"/>
              <a:t>LLVM</a:t>
            </a:r>
            <a:r>
              <a:rPr lang="zh-CN" altLang="en-US" sz="2800"/>
              <a:t>优势</a:t>
            </a:r>
            <a:endParaRPr lang="zh-CN" altLang="en-US" sz="280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CN" sz="2800"/>
              <a:t>LLVM-IR</a:t>
            </a:r>
            <a:r>
              <a:rPr lang="zh-CN" altLang="en-US" sz="2800"/>
              <a:t>设计</a:t>
            </a:r>
            <a:r>
              <a:rPr lang="zh-CN" altLang="en-US" sz="2800"/>
              <a:t>哲学</a:t>
            </a:r>
            <a:endParaRPr lang="zh-CN" altLang="en-US" sz="280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CN" sz="2800"/>
              <a:t>LLVM-IR</a:t>
            </a:r>
            <a:r>
              <a:rPr lang="zh-CN" altLang="en-US" sz="2800"/>
              <a:t>核心</a:t>
            </a:r>
            <a:r>
              <a:rPr lang="zh-CN" altLang="en-US" sz="2800"/>
              <a:t>指令集</a:t>
            </a:r>
            <a:endParaRPr lang="zh-CN" altLang="en-US" sz="280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CN" sz="2800"/>
              <a:t>LLVM-IR GEP</a:t>
            </a:r>
            <a:endParaRPr lang="zh-CN" altLang="en-US" sz="2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0" y="259080"/>
            <a:ext cx="520065" cy="569595"/>
          </a:xfrm>
          <a:custGeom>
            <a:avLst/>
            <a:gdLst/>
            <a:ahLst/>
            <a:cxnLst/>
            <a:rect l="l" t="t" r="r" b="b"/>
            <a:pathLst>
              <a:path w="4956389" h="304748">
                <a:moveTo>
                  <a:pt x="0" y="0"/>
                </a:moveTo>
                <a:lnTo>
                  <a:pt x="4956389" y="0"/>
                </a:lnTo>
                <a:lnTo>
                  <a:pt x="4956389" y="304748"/>
                </a:lnTo>
                <a:lnTo>
                  <a:pt x="0" y="304748"/>
                </a:lnTo>
                <a:close/>
              </a:path>
            </a:pathLst>
          </a:custGeom>
          <a:solidFill>
            <a:srgbClr val="9D0101"/>
          </a:solidFill>
        </p:spPr>
      </p:sp>
      <p:sp>
        <p:nvSpPr>
          <p:cNvPr id="42" name="TextBox 42"/>
          <p:cNvSpPr txBox="1"/>
          <p:nvPr/>
        </p:nvSpPr>
        <p:spPr>
          <a:xfrm>
            <a:off x="668020" y="198755"/>
            <a:ext cx="2541905" cy="57785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4915"/>
              </a:lnSpc>
            </a:pPr>
            <a:r>
              <a:rPr lang="en-US" altLang="zh-CN" sz="2800" b="1" spc="217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 </a:t>
            </a:r>
            <a:r>
              <a:rPr lang="zh-CN" altLang="en-US" sz="2800" b="1" spc="217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</a:t>
            </a:r>
            <a:endParaRPr lang="zh-CN" altLang="en-US" sz="2800" b="1" spc="217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 descr="图层 yingwe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6348" y="405765"/>
            <a:ext cx="1836420" cy="37084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956310" y="1030605"/>
            <a:ext cx="7870825" cy="22269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/>
              <a:t>如果你想开发一门新的编程语言</a:t>
            </a:r>
            <a:r>
              <a:rPr lang="en-US" altLang="zh-CN" sz="2400"/>
              <a:t>，</a:t>
            </a:r>
            <a:r>
              <a:rPr lang="zh-CN" altLang="en-US" sz="2400"/>
              <a:t>两条路</a:t>
            </a:r>
            <a:r>
              <a:rPr lang="en-US" altLang="zh-CN" sz="2400"/>
              <a:t>：</a:t>
            </a:r>
            <a:endParaRPr lang="zh-CN" altLang="en-US" sz="2400"/>
          </a:p>
          <a:p>
            <a:endParaRPr lang="en-US" altLang="zh-CN"/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000"/>
              <a:t>从头造一个编译器</a:t>
            </a:r>
            <a:r>
              <a:rPr lang="en-US" altLang="zh-CN" sz="2000"/>
              <a:t>，</a:t>
            </a:r>
            <a:r>
              <a:rPr lang="zh-CN" altLang="en-US" sz="2000"/>
              <a:t>词法分析</a:t>
            </a:r>
            <a:r>
              <a:rPr lang="en-US" altLang="zh-CN" sz="2000"/>
              <a:t>、</a:t>
            </a:r>
            <a:r>
              <a:rPr lang="zh-CN" altLang="en-US" sz="2000"/>
              <a:t>语法分析</a:t>
            </a:r>
            <a:r>
              <a:rPr lang="en-US" altLang="zh-CN" sz="2000"/>
              <a:t>、</a:t>
            </a:r>
            <a:r>
              <a:rPr lang="zh-CN" altLang="en-US" sz="2000"/>
              <a:t>语义分析</a:t>
            </a:r>
            <a:r>
              <a:rPr lang="en-US" altLang="zh-CN" sz="2000"/>
              <a:t>、</a:t>
            </a:r>
            <a:r>
              <a:rPr lang="zh-CN" altLang="en-US" sz="2000"/>
              <a:t>代码生成</a:t>
            </a:r>
            <a:endParaRPr lang="zh-CN" altLang="en-US" sz="2000"/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000"/>
              <a:t>复用</a:t>
            </a:r>
            <a:r>
              <a:rPr lang="en-US" altLang="zh-CN" sz="2000"/>
              <a:t>GCC，</a:t>
            </a:r>
            <a:r>
              <a:rPr lang="zh-CN" altLang="en-US" sz="2000"/>
              <a:t>只写前端部分</a:t>
            </a:r>
            <a:r>
              <a:rPr lang="en-US" altLang="zh-CN" sz="2000"/>
              <a:t>，</a:t>
            </a:r>
            <a:r>
              <a:rPr lang="zh-CN" altLang="en-US" sz="2000"/>
              <a:t>将高级语言解析成</a:t>
            </a:r>
            <a:r>
              <a:rPr lang="en-US" altLang="zh-CN" sz="2000"/>
              <a:t>IR，</a:t>
            </a:r>
            <a:r>
              <a:rPr lang="zh-CN" altLang="en-US" sz="2000"/>
              <a:t>后面的事交给</a:t>
            </a:r>
            <a:r>
              <a:rPr lang="en-US" altLang="zh-CN" sz="2000"/>
              <a:t>GCC</a:t>
            </a:r>
            <a:r>
              <a:rPr lang="zh-CN" altLang="en-US" sz="2000"/>
              <a:t>来做</a:t>
            </a:r>
            <a:endParaRPr lang="en-US" altLang="zh-CN" sz="2000"/>
          </a:p>
          <a:p>
            <a:endParaRPr lang="en-US" altLang="zh-CN"/>
          </a:p>
          <a:p>
            <a:endParaRPr lang="zh-CN" altLang="en-US" sz="2000"/>
          </a:p>
        </p:txBody>
      </p:sp>
      <p:sp>
        <p:nvSpPr>
          <p:cNvPr id="5" name="文本框 4"/>
          <p:cNvSpPr txBox="1"/>
          <p:nvPr/>
        </p:nvSpPr>
        <p:spPr>
          <a:xfrm>
            <a:off x="8633460" y="1645285"/>
            <a:ext cx="2542540" cy="8439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>
                <a:solidFill>
                  <a:srgbClr val="C00000"/>
                </a:solidFill>
              </a:rPr>
              <a:t>不同机器架构</a:t>
            </a:r>
            <a:endParaRPr lang="zh-CN" altLang="en-US" sz="2400">
              <a:solidFill>
                <a:srgbClr val="C00000"/>
              </a:solidFill>
            </a:endParaRPr>
          </a:p>
          <a:p>
            <a:r>
              <a:rPr lang="zh-CN" altLang="en-US" sz="2400">
                <a:solidFill>
                  <a:srgbClr val="C00000"/>
                </a:solidFill>
              </a:rPr>
              <a:t>汇编代码</a:t>
            </a:r>
            <a:r>
              <a:rPr lang="zh-CN" altLang="en-US" sz="2400">
                <a:solidFill>
                  <a:srgbClr val="C00000"/>
                </a:solidFill>
              </a:rPr>
              <a:t>不同</a:t>
            </a:r>
            <a:endParaRPr lang="zh-CN" altLang="en-US" sz="2400">
              <a:solidFill>
                <a:srgbClr val="C00000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56310" y="3101975"/>
            <a:ext cx="8293735" cy="27889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zh-CN" altLang="en-US" sz="2400">
                <a:sym typeface="+mn-ea"/>
              </a:rPr>
              <a:t>难以复用</a:t>
            </a:r>
            <a:r>
              <a:rPr lang="en-US" altLang="zh-CN" sz="2400">
                <a:sym typeface="+mn-ea"/>
              </a:rPr>
              <a:t>GCC</a:t>
            </a:r>
            <a:endParaRPr lang="en-US" altLang="zh-CN" sz="2400"/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/>
              <a:t>GCC</a:t>
            </a:r>
            <a:r>
              <a:rPr lang="zh-CN" altLang="en-US"/>
              <a:t>最初的设计目标只有一个</a:t>
            </a:r>
            <a:r>
              <a:rPr lang="en-US" altLang="zh-CN"/>
              <a:t>：</a:t>
            </a:r>
            <a:r>
              <a:rPr lang="zh-CN" altLang="en-US"/>
              <a:t>能把</a:t>
            </a:r>
            <a:r>
              <a:rPr lang="en-US" altLang="zh-CN"/>
              <a:t>C</a:t>
            </a:r>
            <a:r>
              <a:rPr lang="zh-CN" altLang="en-US"/>
              <a:t>代码编译出来</a:t>
            </a:r>
            <a:r>
              <a:rPr lang="en-US" altLang="zh-CN"/>
              <a:t>，</a:t>
            </a:r>
            <a:r>
              <a:rPr lang="zh-CN" altLang="en-US"/>
              <a:t>没人预料他未来需要被拆开</a:t>
            </a:r>
            <a:r>
              <a:rPr lang="zh-CN" altLang="en-US"/>
              <a:t>复用</a:t>
            </a:r>
            <a:endParaRPr lang="zh-CN" altLang="en-US"/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/>
              <a:t>GCC</a:t>
            </a:r>
            <a:r>
              <a:rPr lang="zh-CN" altLang="en-US"/>
              <a:t>各个阶段之间深度耦合</a:t>
            </a:r>
            <a:r>
              <a:rPr lang="en-US" altLang="zh-CN"/>
              <a:t>，</a:t>
            </a:r>
            <a:r>
              <a:rPr lang="zh-CN" altLang="en-US"/>
              <a:t>深度交织，大量全局状态共享</a:t>
            </a:r>
            <a:endParaRPr lang="zh-CN" altLang="en-US"/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/>
              <a:t>理想中，编译器的各个阶段应该像独立模块，之间通过清晰的接口传递数据：</a:t>
            </a:r>
            <a:endParaRPr lang="zh-CN" altLang="en-US"/>
          </a:p>
          <a:p>
            <a:pPr marL="742950" lvl="1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/>
              <a:t>[</a:t>
            </a:r>
            <a:r>
              <a:rPr lang="zh-CN" altLang="en-US"/>
              <a:t>前端</a:t>
            </a:r>
            <a:r>
              <a:rPr lang="en-US" altLang="zh-CN"/>
              <a:t>] </a:t>
            </a:r>
            <a:r>
              <a:rPr lang="en-US" altLang="en-US"/>
              <a:t>→</a:t>
            </a:r>
            <a:r>
              <a:rPr lang="en-US" altLang="zh-CN"/>
              <a:t> [</a:t>
            </a:r>
            <a:r>
              <a:rPr lang="zh-CN" altLang="en-US"/>
              <a:t>中间表示</a:t>
            </a:r>
            <a:r>
              <a:rPr lang="en-US" altLang="zh-CN"/>
              <a:t>] </a:t>
            </a:r>
            <a:r>
              <a:rPr lang="en-US" altLang="en-US"/>
              <a:t>→</a:t>
            </a:r>
            <a:r>
              <a:rPr lang="en-US" altLang="zh-CN"/>
              <a:t> [</a:t>
            </a:r>
            <a:r>
              <a:rPr lang="zh-CN" altLang="en-US"/>
              <a:t>优化器</a:t>
            </a:r>
            <a:r>
              <a:rPr lang="en-US" altLang="zh-CN"/>
              <a:t>] </a:t>
            </a:r>
            <a:r>
              <a:rPr lang="en-US" altLang="en-US"/>
              <a:t>→</a:t>
            </a:r>
            <a:r>
              <a:rPr lang="en-US" altLang="zh-CN"/>
              <a:t> [</a:t>
            </a:r>
            <a:r>
              <a:rPr lang="zh-CN" altLang="en-US"/>
              <a:t>后端</a:t>
            </a:r>
            <a:r>
              <a:rPr lang="en-US" altLang="zh-CN"/>
              <a:t>]</a:t>
            </a:r>
            <a:endParaRPr lang="en-US" altLang="zh-CN"/>
          </a:p>
          <a:p>
            <a:pPr marL="742950" lvl="1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/>
              <a:t>    </a:t>
            </a:r>
            <a:r>
              <a:rPr lang="en-US" altLang="en-US"/>
              <a:t>↑</a:t>
            </a:r>
            <a:r>
              <a:rPr lang="en-US" altLang="zh-CN"/>
              <a:t>               </a:t>
            </a:r>
            <a:r>
              <a:rPr lang="en-US" altLang="en-US"/>
              <a:t>↑</a:t>
            </a:r>
            <a:r>
              <a:rPr lang="en-US" altLang="zh-CN"/>
              <a:t>                </a:t>
            </a:r>
            <a:r>
              <a:rPr lang="en-US" altLang="en-US"/>
              <a:t>↑</a:t>
            </a:r>
            <a:r>
              <a:rPr lang="en-US" altLang="zh-CN"/>
              <a:t>             </a:t>
            </a:r>
            <a:r>
              <a:rPr lang="en-US" altLang="en-US"/>
              <a:t>↑</a:t>
            </a:r>
            <a:endParaRPr lang="en-US" altLang="en-US"/>
          </a:p>
          <a:p>
            <a:pPr marL="742950" lvl="1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/>
              <a:t>可独立替换</a:t>
            </a:r>
            <a:r>
              <a:rPr lang="en-US" altLang="zh-CN"/>
              <a:t>    </a:t>
            </a:r>
            <a:r>
              <a:rPr lang="zh-CN" altLang="en-US"/>
              <a:t>公开接口</a:t>
            </a:r>
            <a:r>
              <a:rPr lang="en-US" altLang="zh-CN"/>
              <a:t>    </a:t>
            </a:r>
            <a:r>
              <a:rPr lang="zh-CN" altLang="en-US"/>
              <a:t>可独立替换</a:t>
            </a:r>
            <a:r>
              <a:rPr lang="en-US" altLang="zh-CN"/>
              <a:t>  </a:t>
            </a:r>
            <a:r>
              <a:rPr lang="zh-CN" altLang="en-US"/>
              <a:t>可独立替换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0" y="259080"/>
            <a:ext cx="520065" cy="569595"/>
          </a:xfrm>
          <a:custGeom>
            <a:avLst/>
            <a:gdLst/>
            <a:ahLst/>
            <a:cxnLst/>
            <a:rect l="l" t="t" r="r" b="b"/>
            <a:pathLst>
              <a:path w="4956389" h="304748">
                <a:moveTo>
                  <a:pt x="0" y="0"/>
                </a:moveTo>
                <a:lnTo>
                  <a:pt x="4956389" y="0"/>
                </a:lnTo>
                <a:lnTo>
                  <a:pt x="4956389" y="304748"/>
                </a:lnTo>
                <a:lnTo>
                  <a:pt x="0" y="304748"/>
                </a:lnTo>
                <a:close/>
              </a:path>
            </a:pathLst>
          </a:custGeom>
          <a:solidFill>
            <a:srgbClr val="9D0101"/>
          </a:solidFill>
        </p:spPr>
      </p:sp>
      <p:sp>
        <p:nvSpPr>
          <p:cNvPr id="42" name="TextBox 42"/>
          <p:cNvSpPr txBox="1"/>
          <p:nvPr/>
        </p:nvSpPr>
        <p:spPr>
          <a:xfrm>
            <a:off x="668020" y="198755"/>
            <a:ext cx="4165600" cy="57785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4915"/>
              </a:lnSpc>
            </a:pPr>
            <a:r>
              <a:rPr lang="en-US" altLang="zh-CN" sz="2800" b="1" spc="217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 LLVM</a:t>
            </a:r>
            <a:r>
              <a:rPr lang="zh-CN" altLang="en-US" sz="2800" b="1" spc="217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</a:t>
            </a:r>
            <a:r>
              <a:rPr lang="zh-CN" altLang="en-US" sz="2800" b="1" spc="217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理念</a:t>
            </a:r>
            <a:endParaRPr lang="zh-CN" altLang="en-US" sz="2800" b="1" spc="217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 descr="图层 yingwe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6348" y="405765"/>
            <a:ext cx="1836420" cy="37084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974090" y="945515"/>
            <a:ext cx="87903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LLVM</a:t>
            </a:r>
            <a:r>
              <a:rPr lang="zh-CN" altLang="en-US" sz="2000"/>
              <a:t>架构</a:t>
            </a:r>
            <a:endParaRPr lang="zh-CN" altLang="en-US" sz="200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765" y="1344295"/>
            <a:ext cx="8861425" cy="281178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974090" y="4384675"/>
            <a:ext cx="8568055" cy="2030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前端：将高级语言例如</a:t>
            </a:r>
            <a:r>
              <a:rPr lang="en-US" altLang="zh-CN"/>
              <a:t>C</a:t>
            </a:r>
            <a:r>
              <a:rPr lang="zh-CN" altLang="en-US"/>
              <a:t>或者其他语言转换成</a:t>
            </a:r>
            <a:r>
              <a:rPr lang="en-US" altLang="zh-CN"/>
              <a:t>LLVM</a:t>
            </a:r>
            <a:r>
              <a:rPr lang="zh-CN" altLang="en-US"/>
              <a:t>定义的中间表达方式</a:t>
            </a:r>
            <a:r>
              <a:rPr lang="en-US" altLang="zh-CN"/>
              <a:t> LLVM IR</a:t>
            </a:r>
            <a:r>
              <a:rPr lang="zh-CN" altLang="en-US"/>
              <a:t>。例如非常有名的</a:t>
            </a:r>
            <a:r>
              <a:rPr lang="en-US" altLang="zh-CN"/>
              <a:t>clang, </a:t>
            </a:r>
            <a:r>
              <a:rPr lang="zh-CN" altLang="en-US"/>
              <a:t>就是一个转换</a:t>
            </a:r>
            <a:r>
              <a:rPr lang="en-US" altLang="zh-CN"/>
              <a:t>C/C++</a:t>
            </a:r>
            <a:r>
              <a:rPr lang="zh-CN" altLang="en-US"/>
              <a:t>的前端。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中端：中端主要是对</a:t>
            </a:r>
            <a:r>
              <a:rPr lang="en-US" altLang="zh-CN"/>
              <a:t>LLVM IR</a:t>
            </a:r>
            <a:r>
              <a:rPr lang="zh-CN" altLang="en-US"/>
              <a:t>本身进行一下优化，输入是</a:t>
            </a:r>
            <a:r>
              <a:rPr lang="en-US" altLang="zh-CN"/>
              <a:t>LLVM, </a:t>
            </a:r>
            <a:r>
              <a:rPr lang="zh-CN" altLang="en-US"/>
              <a:t>输出还是</a:t>
            </a:r>
            <a:r>
              <a:rPr lang="en-US" altLang="zh-CN"/>
              <a:t>LLVM</a:t>
            </a:r>
            <a:r>
              <a:rPr lang="zh-CN" altLang="en-US"/>
              <a:t>，</a:t>
            </a:r>
            <a:r>
              <a:rPr lang="en-US" altLang="zh-CN"/>
              <a:t> </a:t>
            </a:r>
            <a:r>
              <a:rPr lang="zh-CN" altLang="en-US"/>
              <a:t>主要是消除无用代码等工作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后端：后端输入</a:t>
            </a:r>
            <a:r>
              <a:rPr lang="en-US" altLang="zh-CN"/>
              <a:t>LLVM IR</a:t>
            </a:r>
            <a:r>
              <a:rPr lang="zh-CN" altLang="en-US"/>
              <a:t>，</a:t>
            </a:r>
            <a:r>
              <a:rPr lang="en-US" altLang="zh-CN"/>
              <a:t> </a:t>
            </a:r>
            <a:r>
              <a:rPr lang="zh-CN" altLang="en-US"/>
              <a:t>输出机器码。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0" y="259080"/>
            <a:ext cx="520065" cy="569595"/>
          </a:xfrm>
          <a:custGeom>
            <a:avLst/>
            <a:gdLst/>
            <a:ahLst/>
            <a:cxnLst/>
            <a:rect l="l" t="t" r="r" b="b"/>
            <a:pathLst>
              <a:path w="4956389" h="304748">
                <a:moveTo>
                  <a:pt x="0" y="0"/>
                </a:moveTo>
                <a:lnTo>
                  <a:pt x="4956389" y="0"/>
                </a:lnTo>
                <a:lnTo>
                  <a:pt x="4956389" y="304748"/>
                </a:lnTo>
                <a:lnTo>
                  <a:pt x="0" y="304748"/>
                </a:lnTo>
                <a:close/>
              </a:path>
            </a:pathLst>
          </a:custGeom>
          <a:solidFill>
            <a:srgbClr val="9D0101"/>
          </a:solidFill>
        </p:spPr>
      </p:sp>
      <p:sp>
        <p:nvSpPr>
          <p:cNvPr id="42" name="TextBox 42"/>
          <p:cNvSpPr txBox="1"/>
          <p:nvPr/>
        </p:nvSpPr>
        <p:spPr>
          <a:xfrm>
            <a:off x="668020" y="198755"/>
            <a:ext cx="4165600" cy="57785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4915"/>
              </a:lnSpc>
            </a:pPr>
            <a:r>
              <a:rPr lang="en-US" altLang="zh-CN" sz="2800" b="1" spc="217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 LLVM</a:t>
            </a:r>
            <a:r>
              <a:rPr lang="zh-CN" altLang="en-US" sz="2800" b="1" spc="217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优势</a:t>
            </a:r>
            <a:endParaRPr lang="zh-CN" altLang="en-US" sz="2800" b="1" spc="217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 descr="图层 yingwe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6348" y="405765"/>
            <a:ext cx="1836420" cy="37084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974090" y="1155700"/>
            <a:ext cx="879030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LLVM</a:t>
            </a:r>
            <a:r>
              <a:rPr lang="zh-CN" altLang="en-US" sz="2000"/>
              <a:t>实现了编译器模块化</a:t>
            </a:r>
            <a:r>
              <a:rPr lang="en-US" altLang="zh-CN" sz="2000"/>
              <a:t>，</a:t>
            </a:r>
            <a:r>
              <a:rPr lang="zh-CN" altLang="en-US" sz="2000"/>
              <a:t>如果有一种新语言，只需写一个前端生成</a:t>
            </a:r>
            <a:r>
              <a:rPr lang="en-US" altLang="zh-CN" sz="2000"/>
              <a:t> LLVM IR</a:t>
            </a:r>
            <a:r>
              <a:rPr lang="zh-CN" altLang="en-US" sz="2000"/>
              <a:t>；如果有一种新硬件，只需写一个后端从</a:t>
            </a:r>
            <a:r>
              <a:rPr lang="en-US" altLang="zh-CN" sz="2000"/>
              <a:t> IR </a:t>
            </a:r>
            <a:r>
              <a:rPr lang="zh-CN" altLang="en-US" sz="2000"/>
              <a:t>生成机器码。</a:t>
            </a:r>
            <a:r>
              <a:rPr lang="en-US" altLang="zh-CN" sz="2000"/>
              <a:t>M </a:t>
            </a:r>
            <a:r>
              <a:rPr lang="en-US" altLang="en-US" sz="2000"/>
              <a:t>×</a:t>
            </a:r>
            <a:r>
              <a:rPr lang="en-US" altLang="zh-CN" sz="2000"/>
              <a:t> N </a:t>
            </a:r>
            <a:r>
              <a:rPr lang="zh-CN" altLang="en-US" sz="2000"/>
              <a:t>问题变成了</a:t>
            </a:r>
            <a:r>
              <a:rPr lang="en-US" altLang="zh-CN" sz="2000"/>
              <a:t> M + N </a:t>
            </a:r>
            <a:r>
              <a:rPr lang="zh-CN" altLang="en-US" sz="2000"/>
              <a:t>问题。</a:t>
            </a:r>
            <a:endParaRPr lang="zh-CN" altLang="en-US" sz="20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145" y="2468880"/>
            <a:ext cx="4932045" cy="406908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3420" y="2468880"/>
            <a:ext cx="5168185" cy="406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0" y="259080"/>
            <a:ext cx="520065" cy="569595"/>
          </a:xfrm>
          <a:custGeom>
            <a:avLst/>
            <a:gdLst/>
            <a:ahLst/>
            <a:cxnLst/>
            <a:rect l="l" t="t" r="r" b="b"/>
            <a:pathLst>
              <a:path w="4956389" h="304748">
                <a:moveTo>
                  <a:pt x="0" y="0"/>
                </a:moveTo>
                <a:lnTo>
                  <a:pt x="4956389" y="0"/>
                </a:lnTo>
                <a:lnTo>
                  <a:pt x="4956389" y="304748"/>
                </a:lnTo>
                <a:lnTo>
                  <a:pt x="0" y="304748"/>
                </a:lnTo>
                <a:close/>
              </a:path>
            </a:pathLst>
          </a:custGeom>
          <a:solidFill>
            <a:srgbClr val="9D0101"/>
          </a:solidFill>
        </p:spPr>
      </p:sp>
      <p:sp>
        <p:nvSpPr>
          <p:cNvPr id="42" name="TextBox 42"/>
          <p:cNvSpPr txBox="1"/>
          <p:nvPr/>
        </p:nvSpPr>
        <p:spPr>
          <a:xfrm>
            <a:off x="668020" y="198755"/>
            <a:ext cx="5119370" cy="57785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4915"/>
              </a:lnSpc>
            </a:pPr>
            <a:r>
              <a:rPr lang="en-US" altLang="zh-CN" sz="2800" b="1" spc="217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 LLVM-IR </a:t>
            </a:r>
            <a:r>
              <a:rPr lang="zh-CN" altLang="en-US" sz="2800" b="1" spc="217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设计哲学</a:t>
            </a:r>
            <a:r>
              <a:rPr lang="en-US" altLang="zh-CN" sz="2800" b="1" spc="217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2800" b="1" spc="217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 descr="图层 yingwe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6348" y="405765"/>
            <a:ext cx="1836420" cy="37084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830580" y="1040765"/>
            <a:ext cx="8568055" cy="28917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/>
              <a:t>LLVM IR </a:t>
            </a:r>
            <a:r>
              <a:rPr lang="zh-CN" altLang="en-US" sz="2000"/>
              <a:t>的设计遵循三个核心原则：</a:t>
            </a:r>
            <a:endParaRPr lang="zh-CN" altLang="en-US" sz="2000"/>
          </a:p>
          <a:p>
            <a:endParaRPr lang="en-US" altLang="zh-CN"/>
          </a:p>
          <a:p>
            <a:r>
              <a:rPr lang="en-US" altLang="zh-CN"/>
              <a:t>1. SSA (Static Single Assignment) </a:t>
            </a:r>
            <a:r>
              <a:rPr lang="zh-CN" altLang="en-US"/>
              <a:t>形式：每个虚拟寄存器在整个程序中只被赋值一次。这极大简化了数据流分析、死代码消除、常量传播等优化的实现。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2. </a:t>
            </a:r>
            <a:r>
              <a:rPr lang="zh-CN" altLang="en-US"/>
              <a:t>三地址码</a:t>
            </a:r>
            <a:r>
              <a:rPr lang="en-US" altLang="zh-CN"/>
              <a:t> (Three-Address Code)</a:t>
            </a:r>
            <a:r>
              <a:rPr lang="zh-CN" altLang="en-US"/>
              <a:t>：每条指令最多有三个操作数（两个源，一个目标）。这种形式接近机器指令但保留了足够的抽象信息。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3. </a:t>
            </a:r>
            <a:r>
              <a:rPr lang="zh-CN" altLang="en-US"/>
              <a:t>强类型系统：所有值都有明确类型（</a:t>
            </a:r>
            <a:r>
              <a:rPr lang="en-US" altLang="zh-CN"/>
              <a:t>`i32`</a:t>
            </a:r>
            <a:r>
              <a:rPr lang="zh-CN" altLang="en-US"/>
              <a:t>、</a:t>
            </a:r>
            <a:r>
              <a:rPr lang="en-US" altLang="zh-CN"/>
              <a:t>`double`</a:t>
            </a:r>
            <a:r>
              <a:rPr lang="zh-CN" altLang="en-US"/>
              <a:t>、</a:t>
            </a:r>
            <a:r>
              <a:rPr lang="en-US" altLang="zh-CN"/>
              <a:t>`i8*` </a:t>
            </a:r>
            <a:r>
              <a:rPr lang="zh-CN" altLang="en-US"/>
              <a:t>等），类型检查在</a:t>
            </a:r>
            <a:r>
              <a:rPr lang="en-US" altLang="zh-CN"/>
              <a:t> IR </a:t>
            </a:r>
            <a:r>
              <a:rPr lang="zh-CN" altLang="en-US"/>
              <a:t>层面即可进行，避免了许多运行时错误。</a:t>
            </a:r>
            <a:r>
              <a:rPr lang="en-US" altLang="zh-CN"/>
              <a:t> </a:t>
            </a:r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020" y="4362450"/>
            <a:ext cx="7038340" cy="174498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871460" y="4658360"/>
            <a:ext cx="432117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在</a:t>
            </a:r>
            <a:r>
              <a:rPr lang="en-US" altLang="zh-CN">
                <a:sym typeface="+mn-ea"/>
              </a:rPr>
              <a:t> SSA </a:t>
            </a:r>
            <a:r>
              <a:rPr lang="zh-CN" altLang="en-US">
                <a:sym typeface="+mn-ea"/>
              </a:rPr>
              <a:t>形式中：</a:t>
            </a:r>
            <a:endParaRPr lang="zh-CN" altLang="en-US"/>
          </a:p>
          <a:p>
            <a:endParaRPr lang="en-US" altLang="zh-CN"/>
          </a:p>
          <a:p>
            <a:r>
              <a:rPr lang="en-US" altLang="zh-CN">
                <a:sym typeface="+mn-ea"/>
              </a:rPr>
              <a:t>1. </a:t>
            </a:r>
            <a:r>
              <a:rPr lang="zh-CN" altLang="en-US">
                <a:sym typeface="+mn-ea"/>
              </a:rPr>
              <a:t>每个虚拟寄存器恰好被赋值一次</a:t>
            </a:r>
            <a:endParaRPr lang="en-US" altLang="zh-CN"/>
          </a:p>
          <a:p>
            <a:r>
              <a:rPr lang="en-US" altLang="zh-CN">
                <a:sym typeface="+mn-ea"/>
              </a:rPr>
              <a:t>2. </a:t>
            </a:r>
            <a:r>
              <a:rPr lang="zh-CN" altLang="en-US">
                <a:sym typeface="+mn-ea"/>
              </a:rPr>
              <a:t>使用前必须先定义</a:t>
            </a:r>
            <a:endParaRPr lang="en-US" altLang="zh-CN"/>
          </a:p>
          <a:p>
            <a:r>
              <a:rPr lang="en-US" altLang="zh-CN">
                <a:sym typeface="+mn-ea"/>
              </a:rPr>
              <a:t>3. phi </a:t>
            </a:r>
            <a:r>
              <a:rPr lang="zh-CN" altLang="en-US">
                <a:sym typeface="+mn-ea"/>
              </a:rPr>
              <a:t>指令处理控制流汇合处的值选择</a:t>
            </a:r>
            <a:endParaRPr lang="en-US" altLang="zh-CN"/>
          </a:p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0" y="259080"/>
            <a:ext cx="520065" cy="569595"/>
          </a:xfrm>
          <a:custGeom>
            <a:avLst/>
            <a:gdLst/>
            <a:ahLst/>
            <a:cxnLst/>
            <a:rect l="l" t="t" r="r" b="b"/>
            <a:pathLst>
              <a:path w="4956389" h="304748">
                <a:moveTo>
                  <a:pt x="0" y="0"/>
                </a:moveTo>
                <a:lnTo>
                  <a:pt x="4956389" y="0"/>
                </a:lnTo>
                <a:lnTo>
                  <a:pt x="4956389" y="304748"/>
                </a:lnTo>
                <a:lnTo>
                  <a:pt x="0" y="304748"/>
                </a:lnTo>
                <a:close/>
              </a:path>
            </a:pathLst>
          </a:custGeom>
          <a:solidFill>
            <a:srgbClr val="9D0101"/>
          </a:solidFill>
        </p:spPr>
      </p:sp>
      <p:sp>
        <p:nvSpPr>
          <p:cNvPr id="42" name="TextBox 42"/>
          <p:cNvSpPr txBox="1"/>
          <p:nvPr/>
        </p:nvSpPr>
        <p:spPr>
          <a:xfrm>
            <a:off x="668020" y="198755"/>
            <a:ext cx="6360160" cy="57785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4915"/>
              </a:lnSpc>
            </a:pPr>
            <a:r>
              <a:rPr lang="en-US" altLang="zh-CN" sz="2800" b="1" spc="217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05 LLVM-IR </a:t>
            </a:r>
            <a:r>
              <a:rPr lang="zh-CN" altLang="en-US" sz="2800" b="1" spc="217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核心指令</a:t>
            </a:r>
            <a:r>
              <a:rPr lang="zh-CN" altLang="en-US" sz="2800" b="1" spc="217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</a:t>
            </a:r>
            <a:endParaRPr lang="zh-CN" altLang="en-US" sz="2800" b="1" spc="217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 descr="图层 yingwe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6348" y="405765"/>
            <a:ext cx="1836420" cy="37084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060" y="1031240"/>
            <a:ext cx="5485130" cy="3429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7725" y="1031240"/>
            <a:ext cx="5897880" cy="342963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060" y="4596130"/>
            <a:ext cx="8870315" cy="16630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0" y="259080"/>
            <a:ext cx="520065" cy="569595"/>
          </a:xfrm>
          <a:custGeom>
            <a:avLst/>
            <a:gdLst/>
            <a:ahLst/>
            <a:cxnLst/>
            <a:rect l="l" t="t" r="r" b="b"/>
            <a:pathLst>
              <a:path w="4956389" h="304748">
                <a:moveTo>
                  <a:pt x="0" y="0"/>
                </a:moveTo>
                <a:lnTo>
                  <a:pt x="4956389" y="0"/>
                </a:lnTo>
                <a:lnTo>
                  <a:pt x="4956389" y="304748"/>
                </a:lnTo>
                <a:lnTo>
                  <a:pt x="0" y="304748"/>
                </a:lnTo>
                <a:close/>
              </a:path>
            </a:pathLst>
          </a:custGeom>
          <a:solidFill>
            <a:srgbClr val="9D0101"/>
          </a:solidFill>
        </p:spPr>
      </p:sp>
      <p:sp>
        <p:nvSpPr>
          <p:cNvPr id="42" name="TextBox 42"/>
          <p:cNvSpPr txBox="1"/>
          <p:nvPr/>
        </p:nvSpPr>
        <p:spPr>
          <a:xfrm>
            <a:off x="668020" y="198755"/>
            <a:ext cx="3417570" cy="57785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4915"/>
              </a:lnSpc>
            </a:pPr>
            <a:r>
              <a:rPr lang="en-US" altLang="zh-CN" sz="2800" b="1" spc="217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06 LLVM-IR </a:t>
            </a:r>
            <a:r>
              <a:rPr lang="en-US" altLang="zh-CN" sz="2800" b="1" spc="217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GEP</a:t>
            </a:r>
            <a:endParaRPr lang="en-US" altLang="zh-CN" sz="2800" b="1" spc="217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 descr="图层 yingwe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6348" y="405765"/>
            <a:ext cx="1836420" cy="37084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68020" y="3779520"/>
            <a:ext cx="77209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int arr[5][6] </a:t>
            </a:r>
            <a:r>
              <a:rPr lang="zh-CN" altLang="en-US"/>
              <a:t>如何访问</a:t>
            </a:r>
            <a:r>
              <a:rPr lang="en-US" altLang="zh-CN"/>
              <a:t>arr[3][4] ? </a:t>
            </a:r>
            <a:r>
              <a:rPr lang="zh-CN" altLang="en-US"/>
              <a:t>两种</a:t>
            </a:r>
            <a:r>
              <a:rPr lang="zh-CN" altLang="en-US"/>
              <a:t>方式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68020" y="4225925"/>
            <a:ext cx="93135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%ep = getelementptr [5 x [6 x i32]], [5 x [6 x i32]]* %arr, i32 0, i32 3, i32 4</a:t>
            </a:r>
            <a:endParaRPr lang="en-US" altLang="zh-CN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020" y="1009015"/>
            <a:ext cx="8844915" cy="259715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668020" y="4817745"/>
            <a:ext cx="740600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%base = bitcast [5 x [6 x i32]]* %arr to i32*</a:t>
            </a:r>
            <a:endParaRPr lang="en-US" altLang="zh-CN"/>
          </a:p>
          <a:p>
            <a:r>
              <a:rPr lang="en-US" altLang="zh-CN"/>
              <a:t>%stride = mul i32 3, 6         </a:t>
            </a:r>
            <a:endParaRPr lang="en-US" altLang="zh-CN"/>
          </a:p>
          <a:p>
            <a:r>
              <a:rPr lang="en-US" altLang="zh-CN"/>
              <a:t>%idx = add i32 %stride, 4    </a:t>
            </a:r>
            <a:endParaRPr lang="en-US" altLang="zh-CN"/>
          </a:p>
          <a:p>
            <a:r>
              <a:rPr lang="en-US" altLang="zh-CN"/>
              <a:t>%ep = getelementptr i32, i32* %base, i32 %idx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立德楼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17400" cy="685736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4801870" y="1967865"/>
            <a:ext cx="2693035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6600">
                <a:ln w="12700" cmpd="sng">
                  <a:noFill/>
                  <a:prstDash val="solid"/>
                </a:ln>
                <a:solidFill>
                  <a:schemeClr val="bg1"/>
                </a:solidFill>
                <a:latin typeface="Microsoft YaHei Bold" panose="020B0503020204020204" charset="-122"/>
                <a:ea typeface="Microsoft YaHei Bold" panose="020B0503020204020204" charset="-122"/>
              </a:rPr>
              <a:t>致谢</a:t>
            </a:r>
            <a:endParaRPr lang="zh-CN" altLang="en-US" sz="6600">
              <a:ln w="12700" cmpd="sng">
                <a:noFill/>
                <a:prstDash val="solid"/>
              </a:ln>
              <a:solidFill>
                <a:schemeClr val="bg1"/>
              </a:solidFill>
              <a:latin typeface="Microsoft YaHei Bold" panose="020B0503020204020204" charset="-122"/>
              <a:ea typeface="Microsoft YaHei Bold" panose="020B0503020204020204" charset="-122"/>
            </a:endParaRPr>
          </a:p>
        </p:txBody>
      </p:sp>
      <p:pic>
        <p:nvPicPr>
          <p:cNvPr id="13" name="图片 12" descr="图层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29075" y="3196590"/>
            <a:ext cx="4134485" cy="64706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762500" y="5980430"/>
            <a:ext cx="269303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600">
                <a:ln w="12700" cmpd="sng">
                  <a:noFill/>
                  <a:prstDash val="solid"/>
                </a:ln>
                <a:solidFill>
                  <a:schemeClr val="bg1"/>
                </a:solidFill>
                <a:latin typeface="Microsoft YaHei Bold" panose="020B0503020204020204" charset="-122"/>
                <a:ea typeface="Microsoft YaHei Bold" panose="020B0503020204020204" charset="-122"/>
              </a:rPr>
              <a:t>汇报人：人大人</a:t>
            </a:r>
            <a:endParaRPr lang="zh-CN" altLang="en-US" sz="1600">
              <a:ln w="12700" cmpd="sng">
                <a:noFill/>
                <a:prstDash val="solid"/>
              </a:ln>
              <a:solidFill>
                <a:schemeClr val="bg1"/>
              </a:solidFill>
              <a:latin typeface="Microsoft YaHei Bold" panose="020B0503020204020204" charset="-122"/>
              <a:ea typeface="Microsoft YaHei Bold" panose="020B0503020204020204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1043940" y="5623560"/>
            <a:ext cx="10104755" cy="0"/>
          </a:xfrm>
          <a:prstGeom prst="line">
            <a:avLst/>
          </a:prstGeom>
          <a:ln>
            <a:solidFill>
              <a:srgbClr val="D0B790">
                <a:alpha val="44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YTc2ZGZiNzZiNDVlOGViOWVmM2JhOTY0NGJkNjUyYzg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1265</Words>
  <Application>WPS 演示</Application>
  <PresentationFormat>宽屏</PresentationFormat>
  <Paragraphs>79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5" baseType="lpstr">
      <vt:lpstr>Arial</vt:lpstr>
      <vt:lpstr>宋体</vt:lpstr>
      <vt:lpstr>Wingdings</vt:lpstr>
      <vt:lpstr>Microsoft YaHei Bold</vt:lpstr>
      <vt:lpstr>苹方-简</vt:lpstr>
      <vt:lpstr>微软雅黑</vt:lpstr>
      <vt:lpstr>汉仪旗黑</vt:lpstr>
      <vt:lpstr>宋体</vt:lpstr>
      <vt:lpstr>Arial Unicode MS</vt:lpstr>
      <vt:lpstr>Verdana</vt:lpstr>
      <vt:lpstr>Calibri</vt:lpstr>
      <vt:lpstr>Helvetica Neue</vt:lpstr>
      <vt:lpstr>汉仪书宋二KW</vt:lpstr>
      <vt:lpstr>Microsoft YaHei Bold</vt:lpstr>
      <vt:lpstr>微软雅黑</vt:lpstr>
      <vt:lpstr>Office 主题</vt:lpstr>
      <vt:lpstr>LLVM介绍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mac</dc:creator>
  <cp:lastModifiedBy>灰原哀</cp:lastModifiedBy>
  <cp:revision>36</cp:revision>
  <dcterms:created xsi:type="dcterms:W3CDTF">2026-05-11T14:23:21Z</dcterms:created>
  <dcterms:modified xsi:type="dcterms:W3CDTF">2026-05-11T14:23:21Z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2052-12.1.22218.22218</vt:lpwstr>
  </property>
  <property fmtid="{D5CDD505-2E9C-101B-9397-08002B2CF9AE}" pid="3" name="ICV">
    <vt:lpwstr>4A26E1AE08F308C10742016AF33FF9EF_43</vt:lpwstr>
  </property>
</Properties>
</file>